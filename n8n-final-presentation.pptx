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6104" y="1535906"/>
            <a:ext cx="491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工作流自動化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148136" y="2450306"/>
            <a:ext cx="484757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spcBef>
                <a:spcPts val="1200"/>
              </a:spcBef>
              <a:buNone/>
            </a:pPr>
            <a:r>
              <a:rPr lang="en-US" sz="2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 Operation Effort，加速 AI 服務開發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05656" y="3356223"/>
            <a:ext cx="9326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內部技術分享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2925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您的團隊是否面臨這些挑戰？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85143"/>
            <a:ext cx="2699147" cy="872430"/>
          </a:xfrm>
          <a:prstGeom prst="roundRect">
            <a:avLst>
              <a:gd name="adj" fmla="val 10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1012" y="1385143"/>
            <a:ext cx="0" cy="87243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7586" y="1567904"/>
            <a:ext cx="118529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48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時間浪費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7586" y="1861542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每天花 2+ 小時處理重複性工作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1864"/>
            <a:ext cx="2699147" cy="872430"/>
          </a:xfrm>
          <a:prstGeom prst="roundRect">
            <a:avLst>
              <a:gd name="adj" fmla="val 10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1012" y="2531864"/>
            <a:ext cx="0" cy="87243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586" y="2714625"/>
            <a:ext cx="118529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48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容易出錯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87586" y="3008263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手動複製貼上，難免出現人為錯誤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78585"/>
            <a:ext cx="2699147" cy="872430"/>
          </a:xfrm>
          <a:prstGeom prst="roundRect">
            <a:avLst>
              <a:gd name="adj" fmla="val 10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012" y="3678585"/>
            <a:ext cx="0" cy="87243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586" y="3861346"/>
            <a:ext cx="118529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48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效率低落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7586" y="4154984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在不同系統間來回切換搬運資料</a:t>
            </a:r>
            <a:endParaRPr lang="en-US" sz="1200" dirty="0"/>
          </a:p>
        </p:txBody>
      </p:sp>
      <p:pic>
        <p:nvPicPr>
          <p:cNvPr id="15" name="Image 0" descr="/tmp/rasterized-gradient-5d3c48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1147" y="2204591"/>
            <a:ext cx="5225653" cy="164856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54678" y="2433191"/>
            <a:ext cx="243859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有更好的方法！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642062" y="2881908"/>
            <a:ext cx="486382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2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n8n 自動化這些工作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642062" y="3198019"/>
            <a:ext cx="48638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 Operation Effort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42062" y="3411289"/>
            <a:ext cx="48638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提升團隊效率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8650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n8n？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78918"/>
            <a:ext cx="2030540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自動化工作流平台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37618"/>
            <a:ext cx="39624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視覺化拖拉介面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像樂高積木組合節點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應用整合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完全免費開源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3623518"/>
            <a:ext cx="3962400" cy="779115"/>
          </a:xfrm>
          <a:prstGeom prst="roundRect">
            <a:avLst>
              <a:gd name="adj" fmla="val 978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3623518"/>
            <a:ext cx="0" cy="779115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3775918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n8n 不是 AI 工具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7700" y="4050209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60"/>
              </a:spcBef>
              <a:buNone/>
            </a:pPr>
            <a:r>
              <a:rPr lang="en-US" sz="10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是自動化平台，可整合 AI 功能</a:t>
            </a:r>
            <a:endParaRPr lang="en-US" sz="1050" dirty="0"/>
          </a:p>
        </p:txBody>
      </p:sp>
      <p:pic>
        <p:nvPicPr>
          <p:cNvPr id="9" name="Image 0" descr="/tmp/rasterized-gradient-5d05ad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1586061"/>
            <a:ext cx="3962400" cy="280942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64552" y="1921222"/>
            <a:ext cx="34820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名稱由來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64552" y="2283172"/>
            <a:ext cx="348209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2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4964552" y="2959447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Automation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64552" y="3248918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Nodemation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64552" y="3599408"/>
            <a:ext cx="3482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960"/>
              </a:spcBef>
              <a:spcAft>
                <a:spcPts val="48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開頭、N 結尾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4552" y="3860304"/>
            <a:ext cx="3482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中間剛好 8 個字母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76275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核心概念：像樂高一樣組合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90179"/>
            <a:ext cx="3962400" cy="1724471"/>
          </a:xfrm>
          <a:prstGeom prst="roundRect">
            <a:avLst>
              <a:gd name="adj" fmla="val 55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1012" y="1190179"/>
            <a:ext cx="0" cy="1724471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2915" y="1388269"/>
            <a:ext cx="206940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🧱 把 n8n 想成樂高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2915" y="1764060"/>
            <a:ext cx="351859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每個節點 = 一塊積木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組合起來 = 完成任務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靈活調整 = 改變流程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067050"/>
            <a:ext cx="3962400" cy="1724471"/>
          </a:xfrm>
          <a:prstGeom prst="roundRect">
            <a:avLst>
              <a:gd name="adj" fmla="val 55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1012" y="3067050"/>
            <a:ext cx="0" cy="1724471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915" y="3265140"/>
            <a:ext cx="199167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應用程式的膠水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2915" y="3640931"/>
            <a:ext cx="351859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連接 Jira、Slack、GitLab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自動搬運和轉換資料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不需要寫轉檔程式</a:t>
            </a:r>
            <a:endParaRPr lang="en-US" sz="1350" dirty="0"/>
          </a:p>
        </p:txBody>
      </p:sp>
      <p:pic>
        <p:nvPicPr>
          <p:cNvPr id="11" name="Image 0" descr="/tmp/rasterized-gradient-9a81aa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1269802"/>
            <a:ext cx="3962400" cy="344209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916" y="1498402"/>
            <a:ext cx="1797368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任務拆解範例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17948" y="1874193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17948" y="2190304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收到 Jira 工單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17948" y="2479774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917948" y="2875955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917948" y="3192066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分析優先級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17948" y="3481536"/>
            <a:ext cx="3575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917948" y="3877717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917948" y="4193828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通知負責人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23900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不需要是工程師！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62100"/>
            <a:ext cx="3962400" cy="1610171"/>
          </a:xfrm>
          <a:prstGeom prst="roundRect">
            <a:avLst>
              <a:gd name="adj" fmla="val 591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1012" y="1562100"/>
            <a:ext cx="0" cy="1610171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3813" y="1744861"/>
            <a:ext cx="181679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迷思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2093" y="2117378"/>
            <a:ext cx="36202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必須會寫程式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2093" y="2433489"/>
            <a:ext cx="36202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門檻很高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2093" y="2749600"/>
            <a:ext cx="36202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很複雜難學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1562100"/>
            <a:ext cx="3962400" cy="1610171"/>
          </a:xfrm>
          <a:prstGeom prst="roundRect">
            <a:avLst>
              <a:gd name="adj" fmla="val 591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48213" y="1562100"/>
            <a:ext cx="0" cy="1610171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1013" y="1744861"/>
            <a:ext cx="181679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buNone/>
            </a:pPr>
            <a:r>
              <a:rPr lang="en-US" sz="2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事實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19293" y="2117378"/>
            <a:ext cx="36202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視覺化拖拉介面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19293" y="2433489"/>
            <a:ext cx="36202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像玩樂高一樣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9293" y="2749600"/>
            <a:ext cx="36202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會拆解任務就行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3324671"/>
            <a:ext cx="8229600" cy="1588591"/>
          </a:xfrm>
          <a:prstGeom prst="roundRect">
            <a:avLst>
              <a:gd name="adj" fmla="val 59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961" y="3507432"/>
            <a:ext cx="4022217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960"/>
              </a:spcAft>
              <a:buNone/>
            </a:pPr>
            <a:r>
              <a:rPr lang="en-US" sz="16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你只需要這三個能力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9961" y="3862090"/>
            <a:ext cx="802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</a:t>
            </a:r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拆解任務</a:t>
            </a:r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：把複雜工作分成小步驟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961" y="4151561"/>
            <a:ext cx="802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</a:t>
            </a:r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邏輯思考</a:t>
            </a:r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：理解「如果...就...」的流程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961" y="4441031"/>
            <a:ext cx="802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</a:t>
            </a:r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願意嘗試</a:t>
            </a:r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：動手試試看，做中學！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96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我們可以用 n8n 做什麼？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64890"/>
            <a:ext cx="83941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3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零成本、高彈性、快速部署 - 完美符合 DevOps 需求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653480"/>
            <a:ext cx="2239566" cy="97408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653480"/>
            <a:ext cx="0" cy="974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805880"/>
            <a:ext cx="150590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360"/>
              </a:spcAft>
              <a:buNone/>
            </a:pPr>
            <a:r>
              <a:rPr lang="en-US" sz="1425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智能 FAQ 系統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47700" y="2052637"/>
            <a:ext cx="19345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自動回答常見問題，AI 理解語意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779961"/>
            <a:ext cx="2239566" cy="97408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2779961"/>
            <a:ext cx="0" cy="974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" y="2932361"/>
            <a:ext cx="1418463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360"/>
              </a:spcAft>
              <a:buNone/>
            </a:pPr>
            <a:r>
              <a:rPr lang="en-US" sz="1425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Log 智能分析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47700" y="3179118"/>
            <a:ext cx="19345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自動分析日誌，AI 摘要異常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906441"/>
            <a:ext cx="2239566" cy="97408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" y="3906441"/>
            <a:ext cx="0" cy="974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4058841"/>
            <a:ext cx="120472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360"/>
              </a:spcAft>
              <a:buNone/>
            </a:pPr>
            <a:r>
              <a:rPr lang="en-US" sz="1425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告警自動化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647700" y="4305598"/>
            <a:ext cx="19345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監控系統，異常自動通知 Slack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01566" y="1653480"/>
            <a:ext cx="2113955" cy="97408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20616" y="1653480"/>
            <a:ext cx="0" cy="974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2066" y="1805880"/>
            <a:ext cx="138931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360"/>
              </a:spcAft>
              <a:buNone/>
            </a:pPr>
            <a:r>
              <a:rPr lang="en-US" sz="1425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文件自動生成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192066" y="2052637"/>
            <a:ext cx="1806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生成技術文件、API 文件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01566" y="2779961"/>
            <a:ext cx="2113955" cy="97408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020616" y="2779961"/>
            <a:ext cx="0" cy="974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2066" y="2932361"/>
            <a:ext cx="102012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360"/>
              </a:spcAft>
              <a:buNone/>
            </a:pPr>
            <a:r>
              <a:rPr lang="en-US" sz="1425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工具串接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192066" y="3179118"/>
            <a:ext cx="1806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Jira、GitLab、Slack 無縫整合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01566" y="3906441"/>
            <a:ext cx="2113955" cy="97408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020616" y="3906441"/>
            <a:ext cx="0" cy="97408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92066" y="4058841"/>
            <a:ext cx="120472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360"/>
              </a:spcAft>
              <a:buNone/>
            </a:pPr>
            <a:r>
              <a:rPr lang="en-US" sz="1425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CI/CD 通知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192066" y="4305598"/>
            <a:ext cx="1806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部署狀態自動推播給團隊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5775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隔壁處的成功經驗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23975"/>
            <a:ext cx="8229600" cy="2082701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323975"/>
            <a:ext cx="0" cy="2082701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950" y="1552575"/>
            <a:ext cx="394449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已驗證的效益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958876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建立共用 n8n 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2263676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多個部門實際使用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2950" y="2568476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顯著降低人工作業時間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950" y="2873276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加速 AI 功能整合</a:t>
            </a:r>
            <a:endParaRPr lang="en-US" sz="1200" dirty="0"/>
          </a:p>
        </p:txBody>
      </p:sp>
      <p:pic>
        <p:nvPicPr>
          <p:cNvPr id="10" name="Image 0" descr="/tmp/rasterized-gradient-99e4fe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59076"/>
            <a:ext cx="8229600" cy="12381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863876"/>
            <a:ext cx="77724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實際案例展示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85800" y="4279106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6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(於報告時展示隔壁處的成功案例)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2025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我們處的實際應用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00225"/>
            <a:ext cx="8229600" cy="1596628"/>
          </a:xfrm>
          <a:prstGeom prst="roundRect">
            <a:avLst>
              <a:gd name="adj" fmla="val 59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1012" y="1800225"/>
            <a:ext cx="0" cy="1596628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7225" y="1952625"/>
            <a:ext cx="4022217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72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Jira MCP + AI Agent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7225" y="2276773"/>
            <a:ext cx="7877175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自動化工單處理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分類排序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518743"/>
            <a:ext cx="8229600" cy="1596628"/>
          </a:xfrm>
          <a:prstGeom prst="roundRect">
            <a:avLst>
              <a:gd name="adj" fmla="val 59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1012" y="3518743"/>
            <a:ext cx="0" cy="1596628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225" y="3671143"/>
            <a:ext cx="4022217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72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Oracle MCP + AI Agent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7225" y="3995291"/>
            <a:ext cx="7877175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資料庫查詢自動化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輔助 SQL 生成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76275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整合能力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30685"/>
            <a:ext cx="2030540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為何重要？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65586"/>
            <a:ext cx="3962400" cy="11811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加速智能化服務開發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 AI 整合門檻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快速驗證場景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支援多種 LLM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3597176"/>
            <a:ext cx="2030540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96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支援服務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32077"/>
            <a:ext cx="404164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Claude, Gemini</a:t>
            </a:r>
            <a:endParaRPr lang="en-US" sz="1275" dirty="0"/>
          </a:p>
        </p:txBody>
      </p:sp>
      <p:pic>
        <p:nvPicPr>
          <p:cNvPr id="7" name="Image 0" descr="/tmp/rasterized-gradient-e93259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1568648"/>
            <a:ext cx="3962400" cy="2844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98690" y="1842939"/>
            <a:ext cx="1748790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實際效益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98690" y="2218730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原本需要數週開發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98690" y="2508200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現在幾小時完成驗證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98690" y="2889200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無需深入 AI 知識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98690" y="3178671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拖拉即可完成整合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98690" y="3559671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快速迭代優化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98690" y="3849142"/>
            <a:ext cx="348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輕鬆調整 prompt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19150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我們已有的資源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57350"/>
            <a:ext cx="8229600" cy="1701403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657350"/>
            <a:ext cx="0" cy="1701403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950" y="1885950"/>
            <a:ext cx="394449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共用 n8n 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2261741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已完成部署配置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2551212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可直接開始使用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2950" y="2840682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統一管理權限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11153"/>
            <a:ext cx="8229600" cy="1411932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5775" y="3511153"/>
            <a:ext cx="0" cy="1411932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3739753"/>
            <a:ext cx="394449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學習資源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2950" y="4115544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內部文件與範例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2950" y="4405015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技術支援協助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7275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如何開始使用？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95475"/>
            <a:ext cx="8229600" cy="747861"/>
          </a:xfrm>
          <a:prstGeom prst="roundRect">
            <a:avLst>
              <a:gd name="adj" fmla="val 127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055019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0930" y="213598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90625" y="2047875"/>
            <a:ext cx="116586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申請帳號權限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0625" y="2305199"/>
            <a:ext cx="16358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向團隊申請 n8n 平台帳號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841278"/>
            <a:ext cx="8229600" cy="747861"/>
          </a:xfrm>
          <a:prstGeom prst="roundRect">
            <a:avLst>
              <a:gd name="adj" fmla="val 127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000821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0930" y="308178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90625" y="2993678"/>
            <a:ext cx="136017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識別自動化機會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251002"/>
            <a:ext cx="160305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找出團隊重複性高的工作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57200" y="3787080"/>
            <a:ext cx="8229600" cy="747861"/>
          </a:xfrm>
          <a:prstGeom prst="roundRect">
            <a:avLst>
              <a:gd name="adj" fmla="val 127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3946624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0930" y="402758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90625" y="3939480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建立工作流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0625" y="4196804"/>
            <a:ext cx="13115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從簡單場景開始建立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5775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預期效益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06736"/>
            <a:ext cx="2232422" cy="887760"/>
          </a:xfrm>
          <a:prstGeom prst="roundRect">
            <a:avLst>
              <a:gd name="adj" fmla="val 107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506736"/>
            <a:ext cx="0" cy="88776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8061" y="1689497"/>
            <a:ext cx="118529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節省時間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78061" y="1998464"/>
            <a:ext cx="18653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減少重複性作業 50-80%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46896"/>
            <a:ext cx="2232422" cy="887760"/>
          </a:xfrm>
          <a:prstGeom prst="roundRect">
            <a:avLst>
              <a:gd name="adj" fmla="val 107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546896"/>
            <a:ext cx="0" cy="88776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061" y="2729657"/>
            <a:ext cx="118529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提升品質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8061" y="3038624"/>
            <a:ext cx="18653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降低人為錯誤，標準化流程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87055"/>
            <a:ext cx="2232422" cy="887760"/>
          </a:xfrm>
          <a:prstGeom prst="roundRect">
            <a:avLst>
              <a:gd name="adj" fmla="val 107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3587055"/>
            <a:ext cx="0" cy="88776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061" y="3769816"/>
            <a:ext cx="118529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加速交付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8061" y="4078784"/>
            <a:ext cx="18653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快速驗證 AI 應用場景</a:t>
            </a:r>
            <a:endParaRPr lang="en-US" sz="1200" dirty="0"/>
          </a:p>
        </p:txBody>
      </p:sp>
      <p:pic>
        <p:nvPicPr>
          <p:cNvPr id="15" name="Image 0" descr="/tmp/rasterized-gradient-0973e1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422" y="1703487"/>
            <a:ext cx="5692378" cy="257472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17274" y="2038648"/>
            <a:ext cx="52466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投資報酬率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217274" y="2354759"/>
            <a:ext cx="5246674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3150" dirty="0"/>
          </a:p>
        </p:txBody>
      </p:sp>
      <p:sp>
        <p:nvSpPr>
          <p:cNvPr id="18" name="Text 15"/>
          <p:cNvSpPr/>
          <p:nvPr/>
        </p:nvSpPr>
        <p:spPr>
          <a:xfrm>
            <a:off x="3217274" y="3067199"/>
            <a:ext cx="52466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200"/>
              </a:spcBef>
              <a:spcAft>
                <a:spcPts val="48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零額外成本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217274" y="3367980"/>
            <a:ext cx="52466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80"/>
              </a:spcBef>
              <a:spcAft>
                <a:spcPts val="48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立即可見效益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217274" y="3729782"/>
            <a:ext cx="524667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60"/>
              </a:spcBef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釋放人力專注高價值工作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3779" y="689818"/>
            <a:ext cx="353644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讓我們開始行動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981325" y="1642318"/>
            <a:ext cx="3181350" cy="2811363"/>
          </a:xfrm>
          <a:prstGeom prst="roundRect">
            <a:avLst>
              <a:gd name="adj" fmla="val 4066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9839" y="2057549"/>
            <a:ext cx="2584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720"/>
              </a:spcBef>
              <a:spcAft>
                <a:spcPts val="72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降低 Operation Effort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79839" y="2415629"/>
            <a:ext cx="2584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720"/>
              </a:spcBef>
              <a:spcAft>
                <a:spcPts val="72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提升團隊工作效率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79839" y="2773710"/>
            <a:ext cx="2584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720"/>
              </a:spcBef>
              <a:spcAft>
                <a:spcPts val="72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加速 AI 服務開發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05175" y="3269010"/>
            <a:ext cx="253365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5287" y="3421410"/>
            <a:ext cx="22734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鼓勵團隊成員識別自動化機會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35287" y="3737521"/>
            <a:ext cx="22734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立即開始使用 n8n 平台！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工作流自動化 - DevOps 團隊應用</dc:title>
  <dc:subject>n8n for DevOps Teams</dc:subject>
  <dc:creator>n8n DevOps Presentation</dc:creator>
  <cp:lastModifiedBy>n8n DevOps Presentation</cp:lastModifiedBy>
  <cp:revision>1</cp:revision>
  <dcterms:created xsi:type="dcterms:W3CDTF">2025-11-10T20:18:08Z</dcterms:created>
  <dcterms:modified xsi:type="dcterms:W3CDTF">2025-11-10T20:18:08Z</dcterms:modified>
</cp:coreProperties>
</file>